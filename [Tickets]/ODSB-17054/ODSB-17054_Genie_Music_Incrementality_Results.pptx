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5029200"/>
            <a:ext cx="11887200" cy="54864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6FFF"/>
                </a:solidFill>
              </a:rPr>
              <a:t>MOLOCO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Genie Music (지니뮤직)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UA Incrementality Test —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Test period: 2026-03-20 → 2026-04-08  |  5% Ghost-Bid Holdout  |  Android KOR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Prepared by Moloco KOR GDS  |  April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Test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560320" cy="530352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Test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05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Backend Ghost-Bid Incrementality (UPLIFT)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36776"/>
            <a:ext cx="2560320" cy="530352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2821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com.ktmusic.geniemusic  |  Android, KOR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59152"/>
            <a:ext cx="2560320" cy="530352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505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UA_gpoint (b6VKt5Rtiz6ieomx) — Goal: UA_CPA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81528"/>
            <a:ext cx="2560320" cy="530352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Holdout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17296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5% ghost-bid control (no ad shown)  |  95% normal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03904"/>
            <a:ext cx="2560320" cy="530352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9534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9534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2026-03-20 → 2026-04-08  (3 weeks)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26280"/>
            <a:ext cx="2560320" cy="530352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KPI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6177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≥20% incremental conversion lift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48656"/>
            <a:ext cx="2560320" cy="530352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400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ExpLab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3400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UPLIFT-com-ktmusic-geniemusic-JsPxb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Moloco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566160" cy="2514600"/>
          </a:xfrm>
          <a:prstGeom prst="rect">
            <a:avLst/>
          </a:prstGeom>
          <a:solidFill>
            <a:srgbClr val="F5F7FF"/>
          </a:solidFill>
          <a:ln w="25400">
            <a:solidFill>
              <a:srgbClr val="1E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</a:rPr>
              <a:t>Install Lift
(CPD_INSTALL)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</a:rPr>
              <a:t>+91.8%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C8C8C"/>
                </a:solidFill>
              </a:rPr>
              <a:t>95% CI: [+82.3%, +102.8%]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A85A"/>
                </a:solidFill>
              </a:rPr>
              <a:t>✅ Meets ≥20%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914400"/>
            <a:ext cx="3566160" cy="2514600"/>
          </a:xfrm>
          <a:prstGeom prst="rect">
            <a:avLst/>
          </a:prstGeom>
          <a:solidFill>
            <a:srgbClr val="F5F7FF"/>
          </a:solidFill>
          <a:ln w="25400">
            <a:solidFill>
              <a:srgbClr val="1E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0584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</a:rPr>
              <a:t>D7 Action Lift
(CPD_DIST_ACT_D7)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</a:rPr>
              <a:t>+150.2%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C8C8C"/>
                </a:solidFill>
              </a:rPr>
              <a:t>95% CI: [+118.9%, +188.6%]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7004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A85A"/>
                </a:solidFill>
              </a:rPr>
              <a:t>✅ Meets ≥20%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914400"/>
            <a:ext cx="3566160" cy="2514600"/>
          </a:xfrm>
          <a:prstGeom prst="rect">
            <a:avLst/>
          </a:prstGeom>
          <a:solidFill>
            <a:srgbClr val="F5F7FF"/>
          </a:solidFill>
          <a:ln w="25400">
            <a:solidFill>
              <a:srgbClr val="1E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00584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</a:rPr>
              <a:t>D7 Revenue Lift
(cROAS_D7)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</a:rPr>
              <a:t>+260.1%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C8C8C"/>
                </a:solidFill>
              </a:rPr>
              <a:t>95% CI: [+103.0%, +588.9%]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7004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A85A"/>
                </a:solidFill>
              </a:rPr>
              <a:t>✅ Meets ≥20%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11430000" cy="73152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✅  Moloco demonstrates statistically significant incremental impact (+91.8% install lift), meeting the ≥20% target.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Moloco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Statistical Confidence — Lift Estimates with 95% CI</a:t>
            </a:r>
          </a:p>
        </p:txBody>
      </p:sp>
      <p:pic>
        <p:nvPicPr>
          <p:cNvPr id="4" name="Picture 3" descr="for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</a:rPr>
              <a:t>Method: Bootstrap CPD ratio (20 bins, 10,000 iterations). CI does not cross 0% → statistically significant at 95%.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Moloco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Daily Performance During Test Period</a:t>
            </a:r>
          </a:p>
        </p:txBody>
      </p:sp>
      <p:pic>
        <p:nvPicPr>
          <p:cNvPr id="4" name="Picture 3" descr="dai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394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Moloco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1005840"/>
          </a:xfrm>
          <a:prstGeom prst="rect">
            <a:avLst/>
          </a:prstGeom>
          <a:solidFill>
            <a:srgbClr val="F5F7FF"/>
          </a:solidFill>
          <a:ln w="19050">
            <a:solidFill>
              <a:srgbClr val="1E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✅ Moloco UA drives +92% incremental installs (95% CI: [+82%, +103%]) — significantly exceeds the ≥20% target.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11247120" cy="1005840"/>
          </a:xfrm>
          <a:prstGeom prst="rect">
            <a:avLst/>
          </a:prstGeom>
          <a:solidFill>
            <a:srgbClr val="F5F7FF"/>
          </a:solidFill>
          <a:ln w="19050">
            <a:solidFill>
              <a:srgbClr val="1E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📈 D7 post-install actions also up +150% (D7 Revenue +260%), indicating strong quality of incremental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11247120" cy="1005840"/>
          </a:xfrm>
          <a:prstGeom prst="rect">
            <a:avLst/>
          </a:prstGeom>
          <a:solidFill>
            <a:srgbClr val="F5F7FF"/>
          </a:solidFill>
          <a:ln w="19050">
            <a:solidFill>
              <a:srgbClr val="1E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💡 Recommendation: Scale UA budget — incremental ROI is proven. Prioritize campaigns targeting install → join_1 funnel.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11247120" cy="1005840"/>
          </a:xfrm>
          <a:prstGeom prst="rect">
            <a:avLst/>
          </a:prstGeom>
          <a:solidFill>
            <a:srgbClr val="F5F7FF"/>
          </a:solidFill>
          <a:ln w="19050">
            <a:solidFill>
              <a:srgbClr val="1E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📅 Next: Share results with Genie Music stakeholders. Consider follow-up ROAS experiment after scaling.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Moloco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